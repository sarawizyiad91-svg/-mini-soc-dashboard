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3" r:id="rId4"/>
    <p:sldId id="265" r:id="rId5"/>
    <p:sldId id="266" r:id="rId6"/>
    <p:sldId id="258" r:id="rId7"/>
    <p:sldId id="259" r:id="rId8"/>
    <p:sldId id="260" r:id="rId9"/>
    <p:sldId id="267" r:id="rId10"/>
    <p:sldId id="261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1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D4FF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0D4FF"/>
                </a:solidFill>
                <a:latin typeface="Arial"/>
              </a:rPr>
              <a:t>Functional Test Results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Entries</c:v>
                </c:pt>
              </c:strCache>
            </c:strRef>
          </c:tx>
          <c:spPr>
            <a:solidFill>
              <a:srgbClr val="00D4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Load Logs</c:v>
                </c:pt>
                <c:pt idx="1">
                  <c:v>Nmap Ports</c:v>
                </c:pt>
                <c:pt idx="2">
                  <c:v>Alerts</c:v>
                </c:pt>
                <c:pt idx="3">
                  <c:v>False Positives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4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CC-4ECB-88F2-B40039DD29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A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89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199" y="182880"/>
            <a:ext cx="8525069" cy="1645920"/>
          </a:xfrm>
          <a:prstGeom prst="rect">
            <a:avLst/>
          </a:prstGeom>
          <a:solidFill>
            <a:srgbClr val="0F1628">
              <a:alpha val="80000"/>
            </a:srgbClr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463040" y="333756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SOC Dashboard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1463040" y="1063037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CIC-IDS-2017 Dataset  •  Network Threat Detection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7200" y="1965960"/>
            <a:ext cx="82296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2057399"/>
            <a:ext cx="5029200" cy="2956249"/>
          </a:xfrm>
          <a:prstGeom prst="rect">
            <a:avLst/>
          </a:prstGeom>
          <a:solidFill>
            <a:srgbClr val="0F1628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7200" y="1982101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71500" y="2314988"/>
            <a:ext cx="4754880" cy="438912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73514" y="2304287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Ziyad Alsarawi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3553874" y="2304287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223033379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71500" y="2845340"/>
            <a:ext cx="4754880" cy="438912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73514" y="2834639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Bajaba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553874" y="2834639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222448149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71500" y="3375692"/>
            <a:ext cx="4754880" cy="438912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73514" y="3364991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Aldandan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553874" y="3364991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223041168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71500" y="3906044"/>
            <a:ext cx="4754880" cy="438912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73514" y="3895343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Jawad Zainaddin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3553874" y="3895343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223022484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669280" y="2057400"/>
            <a:ext cx="3017520" cy="12801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669280" y="2180845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760720" y="240944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Rashid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Al-Bouali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669280" y="3474720"/>
            <a:ext cx="3017520" cy="1325880"/>
          </a:xfrm>
          <a:prstGeom prst="rect">
            <a:avLst/>
          </a:prstGeom>
          <a:solidFill>
            <a:srgbClr val="0F1628"/>
          </a:solidFill>
          <a:ln w="12700">
            <a:solidFill>
              <a:srgbClr val="8B9AB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5760720" y="3538728"/>
            <a:ext cx="2834640" cy="301752"/>
          </a:xfrm>
          <a:prstGeom prst="rect">
            <a:avLst/>
          </a:prstGeom>
          <a:solidFill>
            <a:srgbClr val="1E2A3E"/>
          </a:solidFill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760720" y="3538728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760720" y="3922776"/>
            <a:ext cx="2834640" cy="301752"/>
          </a:xfrm>
          <a:prstGeom prst="rect">
            <a:avLst/>
          </a:prstGeom>
          <a:solidFill>
            <a:srgbClr val="1E2A3E"/>
          </a:solidFill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5760720" y="3922776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Logs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760720" y="4306824"/>
            <a:ext cx="2834640" cy="301752"/>
          </a:xfrm>
          <a:prstGeom prst="rect">
            <a:avLst/>
          </a:prstGeom>
          <a:solidFill>
            <a:srgbClr val="1E2A3E"/>
          </a:solidFill>
          <a:ln w="952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5760720" y="4306824"/>
            <a:ext cx="2834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100" dirty="0"/>
          </a:p>
        </p:txBody>
      </p:sp>
      <p:sp>
        <p:nvSpPr>
          <p:cNvPr id="48" name="Shape 32">
            <a:extLst>
              <a:ext uri="{FF2B5EF4-FFF2-40B4-BE49-F238E27FC236}">
                <a16:creationId xmlns:a16="http://schemas.microsoft.com/office/drawing/2014/main" id="{7E387877-C616-C981-9199-31BD8BFD09FE}"/>
              </a:ext>
            </a:extLst>
          </p:cNvPr>
          <p:cNvSpPr/>
          <p:nvPr/>
        </p:nvSpPr>
        <p:spPr>
          <a:xfrm>
            <a:off x="588217" y="4423365"/>
            <a:ext cx="4754880" cy="438912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3">
            <a:extLst>
              <a:ext uri="{FF2B5EF4-FFF2-40B4-BE49-F238E27FC236}">
                <a16:creationId xmlns:a16="http://schemas.microsoft.com/office/drawing/2014/main" id="{AC1FF1DF-945D-8D76-D8E8-FE5DB7050EA0}"/>
              </a:ext>
            </a:extLst>
          </p:cNvPr>
          <p:cNvSpPr/>
          <p:nvPr/>
        </p:nvSpPr>
        <p:spPr>
          <a:xfrm>
            <a:off x="673514" y="4409553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Aljassim</a:t>
            </a:r>
            <a:endParaRPr lang="en-US" sz="1300" dirty="0"/>
          </a:p>
        </p:txBody>
      </p:sp>
      <p:sp>
        <p:nvSpPr>
          <p:cNvPr id="50" name="Text 34">
            <a:extLst>
              <a:ext uri="{FF2B5EF4-FFF2-40B4-BE49-F238E27FC236}">
                <a16:creationId xmlns:a16="http://schemas.microsoft.com/office/drawing/2014/main" id="{4ACDBD8F-E904-C902-C213-91DF7DF74FFA}"/>
              </a:ext>
            </a:extLst>
          </p:cNvPr>
          <p:cNvSpPr/>
          <p:nvPr/>
        </p:nvSpPr>
        <p:spPr>
          <a:xfrm>
            <a:off x="3566160" y="442025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220013690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31920" cy="3840480"/>
          </a:xfrm>
          <a:prstGeom prst="rect">
            <a:avLst/>
          </a:prstGeom>
          <a:solidFill>
            <a:srgbClr val="0F1628"/>
          </a:solidFill>
          <a:ln w="19050">
            <a:solidFill>
              <a:srgbClr val="FF33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What is a SOC?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unit for monitoring &amp; responding to cyber threats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monitor real-time logs &amp; alerts 24/7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face DoS, brute-force, &amp; port scans daily</a:t>
            </a:r>
            <a:endParaRPr lang="en-US" sz="1400" dirty="0"/>
          </a:p>
          <a:p>
            <a:r>
              <a:rPr lang="en-US" sz="14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 too slow for modern threats</a:t>
            </a:r>
            <a:endParaRPr lang="en-US" sz="1400" dirty="0"/>
          </a:p>
          <a:p>
            <a:r>
              <a:rPr lang="en-US" sz="14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automated visual dashboard with real-time alerting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06240" cy="3840480"/>
          </a:xfrm>
          <a:prstGeom prst="rect">
            <a:avLst/>
          </a:prstGeom>
          <a:solidFill>
            <a:srgbClr val="0F1628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Dataset: CIC-IDS-2017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the Canadian Institute for Cybersecurity (UNB)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network traffic: benign + attack scenarios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DoS, Brute-Force, PortScan, Web Attacks</a:t>
            </a:r>
            <a:endParaRPr lang="en-US" sz="1400" dirty="0"/>
          </a:p>
          <a:p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ranges: 192.168.10.x (internal), 205.174.165.x (attacker)</a:t>
            </a:r>
            <a:endParaRPr lang="en-US" sz="1400" dirty="0"/>
          </a:p>
          <a:p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for IDS/SOC research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931920" cy="3840480"/>
          </a:xfrm>
          <a:prstGeom prst="rect">
            <a:avLst/>
          </a:prstGeom>
          <a:solidFill>
            <a:srgbClr val="0F1628"/>
          </a:solidFill>
          <a:ln w="19050">
            <a:solidFill>
              <a:srgbClr val="FF33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Design Goals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desktop SOC dashboard in Java Swing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key SOC workflows end-to-end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CIC-IDS-2017 benchmark data</a:t>
            </a:r>
            <a:endParaRPr lang="en-US" sz="1400" dirty="0"/>
          </a:p>
          <a:p>
            <a:r>
              <a:rPr lang="en-US" sz="14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traffic: BENIGN vs malicious</a:t>
            </a:r>
            <a:endParaRPr lang="en-US" sz="1400" dirty="0"/>
          </a:p>
          <a:p>
            <a:r>
              <a:rPr lang="en-US" sz="14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extensible educational codebase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06240" cy="3840480"/>
          </a:xfrm>
          <a:prstGeom prst="rect">
            <a:avLst/>
          </a:prstGeom>
          <a:solidFill>
            <a:srgbClr val="0F1628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Key Features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analyze IDS logs from CIC-IDS-2017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Nmap port scanning on subnet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 capture (Wireshark-style simulation)</a:t>
            </a:r>
            <a:endParaRPr lang="en-US" sz="1400" dirty="0"/>
          </a:p>
          <a:p>
            <a:r>
              <a:rPr lang="en-US" sz="1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Auto-classify: BENIGN vs HIGH SEVERITY alerts</a:t>
            </a:r>
            <a:endParaRPr lang="en-US" sz="1400" dirty="0"/>
          </a:p>
          <a:p>
            <a:r>
              <a:rPr lang="en-US" sz="1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Attack-to-port correlation (FTP-Patator ↔ Port 21)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AA0FF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7498079" cy="54864"/>
          </a:xfrm>
          <a:prstGeom prst="rect">
            <a:avLst/>
          </a:prstGeom>
          <a:solidFill>
            <a:srgbClr val="5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406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</a:defRPr>
            </a:pPr>
            <a:r>
              <a:rPr lang="en-US" dirty="0"/>
              <a:t>• Modern organizations generate large volumes of network events, making manual threat monitoring difficult.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</a:defRPr>
            </a:pPr>
            <a:r>
              <a:rPr lang="en-US" dirty="0"/>
              <a:t>• Traditional SOC tools are often expensive and too complex for academic or small-scale environments.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</a:defRPr>
            </a:pPr>
            <a:r>
              <a:rPr lang="en-US" dirty="0"/>
              <a:t>• Students require a simplified platform to understand real-world cybersecurity operations.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</a:defRPr>
            </a:pPr>
            <a:r>
              <a:rPr lang="en-US" dirty="0"/>
              <a:t>• A lightweight dashboard is needed to simulate traffic analysis, scanning, and alert handling.</a:t>
            </a:r>
          </a:p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</a:defRPr>
            </a:pPr>
            <a:r>
              <a:rPr lang="en-US" dirty="0"/>
              <a:t>• This project provides an educational Mini SOC Dashboard built with Java for security monitoring practice.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5AA0FF"/>
                </a:solidFill>
              </a:rPr>
              <a:t>System Analysis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22960"/>
            <a:ext cx="7680960" cy="45720"/>
          </a:xfrm>
          <a:prstGeom prst="rect">
            <a:avLst/>
          </a:prstGeom>
          <a:solidFill>
            <a:srgbClr val="5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enerated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7315200" cy="40829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2231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DCDCDC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3931920"/>
          </a:xfrm>
          <a:prstGeom prst="rect">
            <a:avLst/>
          </a:prstGeom>
          <a:solidFill>
            <a:srgbClr val="0F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Panel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Panel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IDS Logs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Nmap Scan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 Capture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743200" cy="3931920"/>
          </a:xfrm>
          <a:prstGeom prst="rect">
            <a:avLst/>
          </a:prstGeom>
          <a:solidFill>
            <a:srgbClr val="0F1628"/>
          </a:solidFill>
          <a:ln w="19050">
            <a:solidFill>
              <a:srgbClr val="FFB800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50292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Panel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8288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IP / Dest IP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Length + Label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2743200" cy="3931920"/>
          </a:xfrm>
          <a:prstGeom prst="rect">
            <a:avLst/>
          </a:prstGeom>
          <a:solidFill>
            <a:srgbClr val="0F1628"/>
          </a:solidFill>
          <a:ln w="19050">
            <a:solidFill>
              <a:srgbClr val="FF3366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822960"/>
            <a:ext cx="2743200" cy="502920"/>
          </a:xfrm>
          <a:prstGeom prst="rect">
            <a:avLst/>
          </a:prstGeom>
          <a:solidFill>
            <a:srgbClr val="FF3366"/>
          </a:solidFill>
          <a:ln w="12700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Panel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Console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Terminal-style output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 alerts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results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Stack:   Java JDK 8+   |   javax.swing   |   CIC-IDS-2017 Dataset   |   Nmap (simulated)   |   Wireshark (simulated)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FF3366"/>
          </a:solidFill>
          <a:ln w="12700">
            <a:solidFill>
              <a:srgbClr val="FF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Detection  •  CIC-IDS-2017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1828800" cy="1188720"/>
          </a:xfrm>
          <a:prstGeom prst="rect">
            <a:avLst/>
          </a:prstGeom>
          <a:solidFill>
            <a:srgbClr val="0F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Entries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822960"/>
            <a:ext cx="1828800" cy="1188720"/>
          </a:xfrm>
          <a:prstGeom prst="rect">
            <a:avLst/>
          </a:prstGeom>
          <a:solidFill>
            <a:srgbClr val="0F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868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1460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1828800" cy="1188720"/>
          </a:xfrm>
          <a:prstGeom prst="rect">
            <a:avLst/>
          </a:prstGeom>
          <a:solidFill>
            <a:srgbClr val="0F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868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822960"/>
            <a:ext cx="1828800" cy="1188720"/>
          </a:xfrm>
          <a:prstGeom prst="rect">
            <a:avLst/>
          </a:prstGeom>
          <a:solidFill>
            <a:srgbClr val="0F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868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629400" y="1508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48840"/>
          <a:ext cx="8412480" cy="26517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IP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Hulk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205.174.165.73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192.168.10.50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PortScan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192.168.x.x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B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FTP-Patator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FTP Port 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FF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822960"/>
          <a:ext cx="47548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868680"/>
            <a:ext cx="3566160" cy="640080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03520" y="86868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8869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IDS Logs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0" y="11887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entries, 4 alerts triggered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0" y="1618488"/>
            <a:ext cx="3566160" cy="640080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03520" y="1618488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35040" y="163677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35040" y="19385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open ports detected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2368296"/>
            <a:ext cx="3566160" cy="640080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03520" y="2368296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35040" y="23865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Correlation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26883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21 ↔ FTP-Patator match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3118104"/>
            <a:ext cx="3566160" cy="640080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303520" y="3118104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35040" y="31363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35040" y="34381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IP, dynamic rows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303520" y="3867912"/>
            <a:ext cx="3566160" cy="640080"/>
          </a:xfrm>
          <a:prstGeom prst="rect">
            <a:avLst/>
          </a:prstGeom>
          <a:solidFill>
            <a:srgbClr val="0F1628"/>
          </a:solidFill>
          <a:ln w="1270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303520" y="3867912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35040" y="3886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Dashboard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035040" y="4187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+ console reset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B756D0-8E82-9F4C-716A-170AB3157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2228"/>
            <a:ext cx="9198591" cy="4567371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000CD04C-0A27-2F34-187E-B8FC10576E9E}"/>
              </a:ext>
            </a:extLst>
          </p:cNvPr>
          <p:cNvSpPr/>
          <p:nvPr/>
        </p:nvSpPr>
        <p:spPr>
          <a:xfrm>
            <a:off x="-1" y="0"/>
            <a:ext cx="9144000" cy="685800"/>
          </a:xfrm>
          <a:prstGeom prst="rect">
            <a:avLst/>
          </a:prstGeom>
          <a:solidFill>
            <a:srgbClr val="1E2A3E"/>
          </a:solidFill>
          <a:ln w="12700">
            <a:solidFill>
              <a:srgbClr val="1E2A3E"/>
            </a:solidFill>
            <a:prstDash val="solid"/>
          </a:ln>
        </p:spPr>
        <p:txBody>
          <a:bodyPr/>
          <a:lstStyle/>
          <a:p>
            <a:r>
              <a:rPr lang="en-US" dirty="0"/>
              <a:t>                                                                      </a:t>
            </a:r>
            <a:r>
              <a:rPr lang="en-US" sz="3200" dirty="0">
                <a:highlight>
                  <a:srgbClr val="FFFF00"/>
                </a:highlight>
              </a:rPr>
              <a:t>GUI</a:t>
            </a:r>
          </a:p>
        </p:txBody>
      </p:sp>
    </p:spTree>
    <p:extLst>
      <p:ext uri="{BB962C8B-B14F-4D97-AF65-F5344CB8AC3E}">
        <p14:creationId xmlns:p14="http://schemas.microsoft.com/office/powerpoint/2010/main" val="483658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743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365760" y="1005840"/>
            <a:ext cx="3840480" cy="3566160"/>
          </a:xfrm>
          <a:prstGeom prst="rect">
            <a:avLst/>
          </a:prstGeom>
          <a:solidFill>
            <a:srgbClr val="0F1628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Achieved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150876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 in Java Swing</a:t>
            </a:r>
            <a:r>
              <a:rPr lang="en-US" sz="1100" dirty="0">
                <a:solidFill>
                  <a:srgbClr val="A0A0A0"/>
                </a:solidFill>
                <a:latin typeface="Calibri" pitchFamily="34" charset="0"/>
              </a:rPr>
              <a:t> via MiniSOCDashboard.java extending JFrame</a:t>
            </a:r>
            <a:endParaRPr lang="en-US" sz="1300" dirty="0"/>
          </a:p>
          <a:p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CIC-IDS-2017 patterns</a:t>
            </a:r>
            <a:r>
              <a:rPr lang="en-US" sz="1100" dirty="0">
                <a:solidFill>
                  <a:srgbClr val="A0A0A0"/>
                </a:solidFill>
                <a:latin typeface="Calibri" pitchFamily="34" charset="0"/>
              </a:rPr>
              <a:t> via mock data matching UNB IP &amp; attack specs</a:t>
            </a:r>
            <a:endParaRPr lang="en-US" sz="1300" dirty="0"/>
          </a:p>
          <a:p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alert accuracy (4/4)</a:t>
            </a:r>
            <a:r>
              <a:rPr lang="en-US" sz="1100" dirty="0">
                <a:solidFill>
                  <a:srgbClr val="A0A0A0"/>
                </a:solidFill>
                <a:latin typeface="Calibri" pitchFamily="34" charset="0"/>
              </a:rPr>
              <a:t> via analyzeLog() checking each label vs BENIGN</a:t>
            </a:r>
            <a:endParaRPr lang="en-US" sz="1300" dirty="0"/>
          </a:p>
          <a:p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false positives</a:t>
            </a:r>
            <a:r>
              <a:rPr lang="en-US" sz="1100" dirty="0">
                <a:solidFill>
                  <a:srgbClr val="A0A0A0"/>
                </a:solidFill>
                <a:latin typeface="Calibri" pitchFamily="34" charset="0"/>
              </a:rPr>
              <a:t> BENIGN-labeled traffic triggered no alerts</a:t>
            </a:r>
            <a:endParaRPr lang="en-US" sz="1300" dirty="0"/>
          </a:p>
          <a:p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codebase</a:t>
            </a:r>
            <a:r>
              <a:rPr lang="en-US" sz="1100" dirty="0">
                <a:solidFill>
                  <a:srgbClr val="A0A0A0"/>
                </a:solidFill>
                <a:latin typeface="Calibri" pitchFamily="34" charset="0"/>
              </a:rPr>
              <a:t> single-file Java, no dependencies, fully commented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206240" cy="3566160"/>
          </a:xfrm>
          <a:prstGeom prst="rect">
            <a:avLst/>
          </a:prstGeom>
          <a:solidFill>
            <a:srgbClr val="0F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0" y="1005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Takeaways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150876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theory and practice in network security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 = credible, testable results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Swing architecture scales well</a:t>
            </a:r>
            <a:endParaRPr lang="en-US" sz="1300" dirty="0"/>
          </a:p>
          <a:p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functional tests passed on first run</a:t>
            </a:r>
            <a:endParaRPr lang="en-US" sz="1300" dirty="0"/>
          </a:p>
          <a:p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ready for ML or live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743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Alignment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365760" y="1005840"/>
            <a:ext cx="3840480" cy="3566160"/>
          </a:xfrm>
          <a:prstGeom prst="rect">
            <a:avLst/>
          </a:prstGeom>
          <a:solidFill>
            <a:srgbClr val="0F1628"/>
          </a:solidFill>
          <a:ln w="19050">
            <a:solidFill>
              <a:srgbClr val="00FF88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How Real SOCs Work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1508760"/>
            <a:ext cx="34747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Splunk, IBM QRadar, and Microsoft Sentinel ingest millions of logs/day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is a core daily tool for SOC port recon</a:t>
            </a:r>
            <a:endParaRPr lang="en-US" sz="1300" dirty="0"/>
          </a:p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used for packet-level investigation</a:t>
            </a:r>
            <a:endParaRPr lang="en-US" sz="1300" dirty="0"/>
          </a:p>
          <a:p>
            <a:r>
              <a:rPr lang="en-US" sz="13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 mirrors our HIGH/BENIGN classification</a:t>
            </a:r>
            <a:endParaRPr lang="en-US" sz="1300" dirty="0"/>
          </a:p>
          <a:p>
            <a:r>
              <a:rPr lang="en-US" sz="13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CIC-IDS-2017 used in academic &amp; industry IDS research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1005840"/>
            <a:ext cx="4206240" cy="3566160"/>
          </a:xfrm>
          <a:prstGeom prst="rect">
            <a:avLst/>
          </a:prstGeom>
          <a:solidFill>
            <a:srgbClr val="0F1628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0" y="10058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Our Project Mirrors This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150876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table = SIEM-style event viewer</a:t>
            </a:r>
            <a:endParaRPr lang="en-US" sz="1300" dirty="0"/>
          </a:p>
          <a:p>
            <a:r>
              <a:rPr lang="en-US" sz="1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console = real-time SOC triage queue</a:t>
            </a:r>
            <a:endParaRPr lang="en-US" sz="1300" dirty="0"/>
          </a:p>
          <a:p>
            <a:r>
              <a:rPr lang="en-US" sz="1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scan + correlation = threat hunting workflow</a:t>
            </a:r>
            <a:endParaRPr lang="en-US" sz="1300" dirty="0"/>
          </a:p>
          <a:p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FTP-Patator ↔ Port 21 = real attack-port correlation</a:t>
            </a:r>
            <a:endParaRPr lang="en-US" sz="1300" dirty="0"/>
          </a:p>
          <a:p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= Wireshark live monitoring equivalent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652</Words>
  <Application>Microsoft Office PowerPoint</Application>
  <PresentationFormat>On-screen Show (16:9)</PresentationFormat>
  <Paragraphs>155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زياد وليد بن عبدالرحمن الصرعاوي</cp:lastModifiedBy>
  <cp:revision>5</cp:revision>
  <dcterms:created xsi:type="dcterms:W3CDTF">2026-05-02T15:21:37Z</dcterms:created>
  <dcterms:modified xsi:type="dcterms:W3CDTF">2026-05-03T20:50:38Z</dcterms:modified>
</cp:coreProperties>
</file>